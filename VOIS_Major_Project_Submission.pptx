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Mohammed Umair Ali</a:t>
            </a:r>
            <a:endParaRPr lang="en-IN" b="0" dirty="0">
              <a:solidFill>
                <a:schemeClr val="tx1"/>
              </a:solidFill>
            </a:endParaRPr>
          </a:p>
          <a:p>
            <a:pPr algn="r"/>
            <a:r>
              <a:rPr lang="en-US" sz="1600" b="0" dirty="0">
                <a:solidFill>
                  <a:schemeClr val="tx1"/>
                </a:solidFill>
              </a:rPr>
              <a:t>[College Name]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[Enter your STU ID -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endParaRPr lang="en-IN" dirty="0"/>
          </a:p>
        </p:txBody>
      </p:sp>
      <p:sp>
        <p:nvSpPr>
          <p:cNvPr id="20" name="Description Body"/>
          <p:cNvSpPr>
            <a:spLocks noGrp="1"/>
          </p:cNvSpPr>
          <p:nvPr/>
        </p:nvSpPr>
        <p:spPr>
          <a:xfrm>
            <a:off x="660399" y="2150000"/>
            <a:ext cx="10871202" cy="4200000"/>
          </a:xfrm>
          <a:prstGeom prst="rect">
            <a:avLst/>
          </a:prstGeom>
        </p:spPr>
        <p:txBody>
          <a:bodyPr wrap="square">
            <a:normAutofit/>
          </a:bodyPr>
          <a:lstStyle/>
          <a:p>
            <a:pPr marL="228600" indent="-228600">
              <a:buFont typeface="Arial"/>
              <a:buChar char="•"/>
            </a:pPr>
            <a:r>
              <a:rPr lang="en-IN" sz="1600" dirty="0"/>
              <a:t>Analyzes 4,000 farm-level records spanning 3 cropping seasons (Kharif, Rabi, Zaid), 8 states, 10 districts and 8 crop types</a:t>
            </a:r>
          </a:p>
          <a:p>
            <a:pPr marL="228600" indent="-228600">
              <a:buFont typeface="Arial"/>
              <a:buChar char="•"/>
            </a:pPr>
            <a:r>
              <a:rPr lang="en-IN" sz="1600" dirty="0"/>
              <a:t>Built using Python (Pandas, NumPy, Matplotlib, Seaborn, SciPy) inside a Jupyter Notebook</a:t>
            </a:r>
          </a:p>
          <a:p>
            <a:pPr marL="228600" indent="-228600">
              <a:buFont typeface="Arial"/>
              <a:buChar char="•"/>
            </a:pPr>
            <a:r>
              <a:rPr lang="en-IN" sz="1600" dirty="0"/>
              <a:t>Covers data cleaning, exploratory data analysis, correlation analysis and one-way ANOVA hypothesis testing</a:t>
            </a:r>
          </a:p>
          <a:p>
            <a:pPr marL="228600" indent="-228600">
              <a:buFont typeface="Arial"/>
              <a:buChar char="•"/>
            </a:pPr>
            <a:r>
              <a:rPr lang="en-IN" sz="1600" dirty="0"/>
              <a:t>Investigates how yield, environmental conditions, resource use and profitability vary by season</a:t>
            </a:r>
          </a:p>
          <a:p>
            <a:pPr marL="228600" indent="-228600">
              <a:buFont typeface="Arial"/>
              <a:buChar char="•"/>
            </a:pPr>
            <a:r>
              <a:rPr lang="en-IN" sz="1600" dirty="0"/>
              <a:t>Delivers evidence-based, season- and crop-specific recommendations to improve farm profitability</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285750" indent="-285750">
              <a:lnSpc>
                <a:spcPct val="130000"/>
              </a:lnSpc>
              <a:buFont typeface="Arial"/>
              <a:buChar char="•"/>
            </a:pPr>
            <a:r>
              <a:rPr lang="en-IN" sz="2000" dirty="0"/>
              <a:t>Farmers planning seasonal crop, irrigation and resource decisions</a:t>
            </a:r>
          </a:p>
          <a:p>
            <a:pPr marL="285750" indent="-285750">
              <a:lnSpc>
                <a:spcPct val="130000"/>
              </a:lnSpc>
              <a:buFont typeface="Arial"/>
              <a:buChar char="•"/>
            </a:pPr>
            <a:r>
              <a:rPr lang="en-IN" sz="2000" dirty="0"/>
              <a:t>Agricultural extension officers and Krishi Vigyan Kendras advising farmers</a:t>
            </a:r>
          </a:p>
          <a:p>
            <a:pPr marL="285750" indent="-285750">
              <a:lnSpc>
                <a:spcPct val="130000"/>
              </a:lnSpc>
              <a:buFont typeface="Arial"/>
              <a:buChar char="•"/>
            </a:pPr>
            <a:r>
              <a:rPr lang="en-IN" sz="2000" dirty="0"/>
              <a:t>State agriculture departments and policymakers for planning and subsidies</a:t>
            </a:r>
          </a:p>
          <a:p>
            <a:pPr marL="285750" indent="-285750">
              <a:lnSpc>
                <a:spcPct val="130000"/>
              </a:lnSpc>
              <a:buFont typeface="Arial"/>
              <a:buChar char="•"/>
            </a:pPr>
            <a:r>
              <a:rPr lang="en-IN" sz="2000" dirty="0"/>
              <a:t>Agri-fintech and crop insurance providers assessing seasonal risk</a:t>
            </a:r>
          </a:p>
          <a:p>
            <a:pPr marL="285750" indent="-285750">
              <a:lnSpc>
                <a:spcPct val="130000"/>
              </a:lnSpc>
              <a:buFont typeface="Arial"/>
              <a:buChar char="•"/>
            </a:pPr>
            <a:r>
              <a:rPr lang="en-IN" sz="2000" dirty="0"/>
              <a:t>Irrigation equipment and agri-tech companies targeting adoption (e.g. drip irrigation)</a:t>
            </a:r>
          </a:p>
          <a:p>
            <a:pPr marL="285750" indent="-285750">
              <a:lnSpc>
                <a:spcPct val="130000"/>
              </a:lnSpc>
              <a:buFont typeface="Arial"/>
              <a:buChar char="•"/>
            </a:pPr>
            <a:r>
              <a:rPr lang="en-IN" sz="2000" dirty="0"/>
              <a:t>Researchers and data analysts studying seasonal agricultural patterns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100000" y="1432560"/>
            <a:ext cx="8500000" cy="5243448"/>
          </a:xfrm>
        </p:spPr>
        <p:txBody>
          <a:bodyPr>
            <a:normAutofit/>
          </a:bodyPr>
          <a:lstStyle/>
          <a:p>
            <a:pPr marL="285750" indent="-285750">
              <a:lnSpc>
                <a:spcPct val="130000"/>
              </a:lnSpc>
              <a:buFont typeface="Arial"/>
              <a:buChar char="•"/>
            </a:pPr>
            <a:r>
              <a:rPr lang="en-IN" sz="2000" b="1" dirty="0"/>
              <a:t>Language &amp; Environment: </a:t>
            </a:r>
            <a:r>
              <a:rPr lang="en-IN" sz="2000" dirty="0"/>
              <a:t>Python 3, Jupyter Notebook</a:t>
            </a:r>
          </a:p>
          <a:p>
            <a:pPr marL="285750" indent="-285750">
              <a:lnSpc>
                <a:spcPct val="130000"/>
              </a:lnSpc>
              <a:buFont typeface="Arial"/>
              <a:buChar char="•"/>
            </a:pPr>
            <a:r>
              <a:rPr lang="en-IN" sz="2000" b="1" dirty="0"/>
              <a:t>Data Handling: </a:t>
            </a:r>
            <a:r>
              <a:rPr lang="en-IN" sz="2000" dirty="0"/>
              <a:t>Pandas, NumPy</a:t>
            </a:r>
          </a:p>
          <a:p>
            <a:pPr marL="285750" indent="-285750">
              <a:lnSpc>
                <a:spcPct val="130000"/>
              </a:lnSpc>
              <a:buFont typeface="Arial"/>
              <a:buChar char="•"/>
            </a:pPr>
            <a:r>
              <a:rPr lang="en-IN" sz="2000" b="1" dirty="0"/>
              <a:t>Visualization: </a:t>
            </a:r>
            <a:r>
              <a:rPr lang="en-IN" sz="2000" dirty="0"/>
              <a:t>Matplotlib, Seaborn</a:t>
            </a:r>
          </a:p>
          <a:p>
            <a:pPr marL="285750" indent="-285750">
              <a:lnSpc>
                <a:spcPct val="130000"/>
              </a:lnSpc>
              <a:buFont typeface="Arial"/>
              <a:buChar char="•"/>
            </a:pPr>
            <a:r>
              <a:rPr lang="en-IN" sz="2000" b="1" dirty="0"/>
              <a:t>Statistical Analysis: </a:t>
            </a:r>
            <a:r>
              <a:rPr lang="en-IN" sz="2000" dirty="0"/>
              <a:t>SciPy (one-way ANOVA, correlation analysis)</a:t>
            </a:r>
          </a:p>
          <a:p>
            <a:pPr marL="285750" indent="-285750">
              <a:lnSpc>
                <a:spcPct val="130000"/>
              </a:lnSpc>
              <a:buFont typeface="Arial"/>
              <a:buChar char="•"/>
            </a:pPr>
            <a:r>
              <a:rPr lang="en-IN" sz="2000" b="1" dirty="0"/>
              <a:t>Documentation: </a:t>
            </a:r>
            <a:r>
              <a:rPr lang="en-IN" sz="2000" dirty="0"/>
              <a:t>Jupyter Notebook (.ipynb)</a:t>
            </a:r>
          </a:p>
          <a:p>
            <a:pPr marL="285750" indent="-285750">
              <a:lnSpc>
                <a:spcPct val="130000"/>
              </a:lnSpc>
              <a:buFont typeface="Arial"/>
              <a:buChar char="•"/>
            </a:pPr>
            <a:r>
              <a:rPr lang="en-IN" sz="2000" b="1" dirty="0"/>
              <a:t>Presentation: </a:t>
            </a:r>
            <a:r>
              <a:rPr lang="en-IN" sz="2000" dirty="0"/>
              <a:t>Microsoft PowerPoint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0" name="Chart Result"/>
          <p:cNvPicPr>
            <a:picLocks noChangeAspect="1"/>
          </p:cNvPicPr>
          <p:nvPr/>
        </p:nvPicPr>
        <p:blipFill>
          <a:blip r:embed="rId3"/>
          <a:stretch>
            <a:fillRect/>
          </a:stretch>
        </p:blipFill>
        <p:spPr>
          <a:xfrm>
            <a:off x="365760" y="3075875"/>
            <a:ext cx="8138160" cy="2398249"/>
          </a:xfrm>
          <a:prstGeom prst="rect">
            <a:avLst/>
          </a:prstGeom>
        </p:spPr>
      </p:pic>
      <p:sp>
        <p:nvSpPr>
          <p:cNvPr id="51" name="Caption"/>
          <p:cNvSpPr txBox="1"/>
          <p:nvPr/>
        </p:nvSpPr>
        <p:spPr>
          <a:xfrm>
            <a:off x="365760" y="1150000"/>
            <a:ext cx="8503920" cy="480000"/>
          </a:xfrm>
          <a:prstGeom prst="rect">
            <a:avLst/>
          </a:prstGeom>
        </p:spPr>
        <p:txBody>
          <a:bodyPr wrap="square">
            <a:normAutofit/>
          </a:bodyPr>
          <a:lstStyle/>
          <a:p>
            <a:r>
              <a:rPr lang="en-IN" sz="1600" i="1" dirty="0">
                <a:solidFill>
                  <a:schemeClr val="tx1">
                    <a:lumMod val="65000"/>
                    <a:lumOff val="35000"/>
                  </a:schemeClr>
                </a:solidFill>
              </a:rPr>
              <a:t>Kharif receives roughly 3× the rainfall of Zaid, and has the most cultivated farm records of the three seasons.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65760" y="1150000"/>
            <a:ext cx="8503920" cy="480000"/>
          </a:xfrm>
        </p:spPr>
        <p:txBody>
          <a:bodyPr/>
          <a:lstStyle/>
          <a:p>
            <a:pPr marL="0" indent="0">
              <a:buNone/>
            </a:pPr>
            <a:r>
              <a:rPr lang="en-US" sz="1600" i="1" dirty="0">
                <a:solidFill>
                  <a:schemeClr val="tx1">
                    <a:lumMod val="65000"/>
                    <a:lumOff val="35000"/>
                  </a:schemeClr>
                </a:solidFill>
              </a:rPr>
              <a:t>Kharif is the most profitable season (avg profit ₹1.79L); Zaid runs a net loss on average, with 64.5% of farms loss-making.</a:t>
            </a:r>
            <a:endParaRPr lang="en-IN" dirty="0"/>
          </a:p>
        </p:txBody>
      </p:sp>
      <p:pic>
        <p:nvPicPr>
          <p:cNvPr id="50" name="Chart Result"/>
          <p:cNvPicPr>
            <a:picLocks noChangeAspect="1"/>
          </p:cNvPicPr>
          <p:nvPr/>
        </p:nvPicPr>
        <p:blipFill>
          <a:blip r:embed="rId3"/>
          <a:stretch>
            <a:fillRect/>
          </a:stretch>
        </p:blipFill>
        <p:spPr>
          <a:xfrm>
            <a:off x="365760" y="3075143"/>
            <a:ext cx="8138160" cy="239971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65760" y="1150000"/>
            <a:ext cx="8503920" cy="480000"/>
          </a:xfrm>
        </p:spPr>
        <p:txBody>
          <a:bodyPr/>
          <a:lstStyle/>
          <a:p>
            <a:pPr marL="0" indent="0">
              <a:buNone/>
            </a:pPr>
            <a:r>
              <a:rPr lang="en-US" sz="1600" i="1" dirty="0">
                <a:solidFill>
                  <a:schemeClr val="tx1">
                    <a:lumMod val="65000"/>
                    <a:lumOff val="35000"/>
                  </a:schemeClr>
                </a:solidFill>
              </a:rPr>
              <a:t>Sugarcane and Chilli stay profitable in every season studied; Maize, Rice and Wheat run at a loss in every season.</a:t>
            </a:r>
            <a:endParaRPr lang="en-IN" dirty="0"/>
          </a:p>
        </p:txBody>
      </p:sp>
      <p:pic>
        <p:nvPicPr>
          <p:cNvPr id="50" name="Chart Result"/>
          <p:cNvPicPr>
            <a:picLocks noChangeAspect="1"/>
          </p:cNvPicPr>
          <p:nvPr/>
        </p:nvPicPr>
        <p:blipFill>
          <a:blip r:embed="rId3"/>
          <a:stretch>
            <a:fillRect/>
          </a:stretch>
        </p:blipFill>
        <p:spPr>
          <a:xfrm>
            <a:off x="1949115" y="2150000"/>
            <a:ext cx="4971450" cy="425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65760" y="1150000"/>
            <a:ext cx="8503920" cy="480000"/>
          </a:xfrm>
        </p:spPr>
        <p:txBody>
          <a:bodyPr/>
          <a:lstStyle/>
          <a:p>
            <a:pPr marL="0" indent="0">
              <a:buNone/>
            </a:pPr>
            <a:r>
              <a:rPr lang="en-US" sz="1600" i="1" dirty="0">
                <a:solidFill>
                  <a:schemeClr val="tx1">
                    <a:lumMod val="65000"/>
                    <a:lumOff val="35000"/>
                  </a:schemeClr>
                </a:solidFill>
              </a:rPr>
              <a:t>Drip irrigation delivers roughly 2× the average profit of Flood or Sprinkler irrigation methods.</a:t>
            </a:r>
            <a:endParaRPr lang="en-IN" dirty="0"/>
          </a:p>
        </p:txBody>
      </p:sp>
      <p:pic>
        <p:nvPicPr>
          <p:cNvPr id="50" name="Chart Result"/>
          <p:cNvPicPr>
            <a:picLocks noChangeAspect="1"/>
          </p:cNvPicPr>
          <p:nvPr/>
        </p:nvPicPr>
        <p:blipFill>
          <a:blip r:embed="rId3"/>
          <a:stretch>
            <a:fillRect/>
          </a:stretch>
        </p:blipFill>
        <p:spPr>
          <a:xfrm>
            <a:off x="365760" y="2634461"/>
            <a:ext cx="8138160" cy="32810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365760" y="1150000"/>
            <a:ext cx="8503920" cy="480000"/>
          </a:xfrm>
        </p:spPr>
        <p:txBody>
          <a:bodyPr/>
          <a:lstStyle/>
          <a:p>
            <a:pPr marL="0" indent="0">
              <a:buNone/>
            </a:pPr>
            <a:r>
              <a:rPr lang="en-US" sz="1600" i="1" dirty="0">
                <a:solidFill>
                  <a:schemeClr val="tx1">
                    <a:lumMod val="65000"/>
                    <a:lumOff val="35000"/>
                  </a:schemeClr>
                </a:solidFill>
              </a:rPr>
              <a:t>Profit correlates most strongly with Revenue, Production, Yield and Water Efficiency — not raw environmental inputs.</a:t>
            </a:r>
            <a:endParaRPr lang="en-IN" dirty="0"/>
          </a:p>
        </p:txBody>
      </p:sp>
      <p:pic>
        <p:nvPicPr>
          <p:cNvPr id="50" name="Chart Result"/>
          <p:cNvPicPr>
            <a:picLocks noChangeAspect="1"/>
          </p:cNvPicPr>
          <p:nvPr/>
        </p:nvPicPr>
        <p:blipFill>
          <a:blip r:embed="rId3"/>
          <a:stretch>
            <a:fillRect/>
          </a:stretch>
        </p:blipFill>
        <p:spPr>
          <a:xfrm>
            <a:off x="1861827" y="2150000"/>
            <a:ext cx="5146025" cy="42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0" name="Future Scope Body"/>
          <p:cNvSpPr txBox="1"/>
          <p:nvPr/>
        </p:nvSpPr>
        <p:spPr>
          <a:xfrm>
            <a:off x="660399" y="2150000"/>
            <a:ext cx="10871202" cy="4200000"/>
          </a:xfrm>
          <a:prstGeom prst="rect">
            <a:avLst/>
          </a:prstGeom>
        </p:spPr>
        <p:txBody>
          <a:bodyPr wrap="square">
            <a:normAutofit/>
          </a:bodyPr>
          <a:lstStyle/>
          <a:p>
            <a:pPr marL="228600" indent="-228600">
              <a:buFont typeface="Arial"/>
              <a:buChar char="•"/>
            </a:pPr>
            <a:r>
              <a:rPr lang="en-IN" sz="1800" dirty="0"/>
              <a:t>Integrate real-time weather and IoT soil-sensor data for live, season-specific forecasting</a:t>
            </a:r>
          </a:p>
          <a:p>
            <a:pPr marL="228600" indent="-228600">
              <a:buFont typeface="Arial"/>
              <a:buChar char="•"/>
            </a:pPr>
            <a:r>
              <a:rPr lang="en-IN" sz="1800" dirty="0"/>
              <a:t>Build machine learning models to predict yield and profit before a season begins</a:t>
            </a:r>
          </a:p>
          <a:p>
            <a:pPr marL="228600" indent="-228600">
              <a:buFont typeface="Arial"/>
              <a:buChar char="•"/>
            </a:pPr>
            <a:r>
              <a:rPr lang="en-IN" sz="1800" dirty="0"/>
              <a:t>Develop a farmer-facing mobile app for season- and crop-specific recommendations</a:t>
            </a:r>
          </a:p>
          <a:p>
            <a:pPr marL="228600" indent="-228600">
              <a:buFont typeface="Arial"/>
              <a:buChar char="•"/>
            </a:pPr>
            <a:r>
              <a:rPr lang="en-IN" sz="1800" dirty="0"/>
              <a:t>Expand coverage to more states, districts and crop varieties</a:t>
            </a:r>
          </a:p>
          <a:p>
            <a:pPr marL="228600" indent="-228600">
              <a:buFont typeface="Arial"/>
              <a:buChar char="•"/>
            </a:pPr>
            <a:r>
              <a:rPr lang="en-IN" sz="1800" dirty="0"/>
              <a:t>Add a market price-forecasting module to help time sales around seasonal price swings</a:t>
            </a:r>
          </a:p>
          <a:p>
            <a:pPr marL="228600" indent="-228600">
              <a:buFont typeface="Arial"/>
              <a:buChar char="•"/>
            </a:pPr>
            <a:r>
              <a:rPr lang="en-IN" sz="1800" dirty="0"/>
              <a:t>Build a policymaker dashboard to monitor seasonal agricultural performance in real time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https://github.com/mdumair312-rgb/Seasonal-Agriculture-Performance-Analysis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0" name="Certificate"/>
          <p:cNvPicPr>
            <a:picLocks noChangeAspect="1"/>
          </p:cNvPicPr>
          <p:nvPr/>
        </p:nvPicPr>
        <p:blipFill>
          <a:blip r:embed="rId3"/>
          <a:stretch>
            <a:fillRect/>
          </a:stretch>
        </p:blipFill>
        <p:spPr>
          <a:xfrm>
            <a:off x="1429878" y="2150000"/>
            <a:ext cx="6009925" cy="425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